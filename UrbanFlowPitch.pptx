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-91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B659A-B540-4523-85A7-9D95C00B954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BEB70-24FD-4466-BEE5-2BF4821AE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2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Poate </a:t>
            </a:r>
            <a:r>
              <a:rPr lang="ro-RO" dirty="0" err="1"/>
              <a:t>sterg</a:t>
            </a:r>
            <a:r>
              <a:rPr lang="ro-RO" dirty="0"/>
              <a:t> asta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EB70-24FD-4466-BEE5-2BF4821AEE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5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: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puna</a:t>
            </a:r>
            <a:r>
              <a:rPr lang="en-US" dirty="0"/>
              <a:t> </a:t>
            </a:r>
            <a:r>
              <a:rPr lang="en-US" dirty="0" err="1"/>
              <a:t>semafoare</a:t>
            </a:r>
            <a:r>
              <a:rPr lang="en-US" dirty="0"/>
              <a:t> not smart in </a:t>
            </a:r>
            <a:r>
              <a:rPr lang="en-US" dirty="0" err="1"/>
              <a:t>bucale</a:t>
            </a:r>
            <a:r>
              <a:rPr lang="en-US" dirty="0"/>
              <a:t> 500 </a:t>
            </a:r>
            <a:r>
              <a:rPr lang="en-US" dirty="0" err="1"/>
              <a:t>intersectii</a:t>
            </a:r>
            <a:r>
              <a:rPr lang="en-US" dirty="0"/>
              <a:t> </a:t>
            </a:r>
            <a:r>
              <a:rPr lang="ro-RO" dirty="0"/>
              <a:t>Mai zi si uzura pe </a:t>
            </a:r>
            <a:r>
              <a:rPr lang="ro-RO" dirty="0" err="1"/>
              <a:t>masini</a:t>
            </a:r>
            <a:r>
              <a:rPr lang="ro-RO" dirty="0"/>
              <a:t>, costul combustibil</a:t>
            </a:r>
            <a:r>
              <a:rPr lang="en-US" dirty="0"/>
              <a:t> + la final </a:t>
            </a:r>
            <a:r>
              <a:rPr lang="en-US" dirty="0" err="1"/>
              <a:t>spune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: la </a:t>
            </a:r>
            <a:r>
              <a:rPr lang="en-US" dirty="0" err="1"/>
              <a:t>noi</a:t>
            </a:r>
            <a:r>
              <a:rPr lang="en-US" dirty="0"/>
              <a:t> in </a:t>
            </a:r>
            <a:r>
              <a:rPr lang="en-US" dirty="0" err="1"/>
              <a:t>tara</a:t>
            </a:r>
            <a:r>
              <a:rPr lang="en-US" dirty="0"/>
              <a:t> </a:t>
            </a:r>
            <a:r>
              <a:rPr lang="en-US" dirty="0" err="1"/>
              <a:t>solutiile</a:t>
            </a:r>
            <a:r>
              <a:rPr lang="en-US" dirty="0"/>
              <a:t> </a:t>
            </a:r>
            <a:r>
              <a:rPr lang="en-US" dirty="0" err="1"/>
              <a:t>actuale</a:t>
            </a:r>
            <a:r>
              <a:rPr lang="en-US" dirty="0"/>
              <a:t> sunt </a:t>
            </a:r>
            <a:r>
              <a:rPr lang="en-US" dirty="0" err="1"/>
              <a:t>costisitoare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nu </a:t>
            </a:r>
            <a:r>
              <a:rPr lang="en-US" dirty="0" err="1"/>
              <a:t>rezolva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nimic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EB70-24FD-4466-BEE5-2BF4821AEE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87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Solutia </a:t>
            </a:r>
            <a:r>
              <a:rPr lang="en-US" b="0" dirty="0" err="1"/>
              <a:t>noastra</a:t>
            </a:r>
            <a:r>
              <a:rPr lang="en-US" b="0" dirty="0"/>
              <a:t> </a:t>
            </a:r>
            <a:r>
              <a:rPr lang="en-US" b="0" dirty="0" err="1"/>
              <a:t>este</a:t>
            </a:r>
            <a:r>
              <a:rPr lang="en-US" b="0" dirty="0"/>
              <a:t> URBAN FLOW - </a:t>
            </a:r>
            <a:r>
              <a:rPr lang="ro-RO" b="0" dirty="0"/>
              <a:t>Un sistem „plug </a:t>
            </a:r>
            <a:r>
              <a:rPr lang="ro-RO" b="0" dirty="0" err="1"/>
              <a:t>and</a:t>
            </a:r>
            <a:r>
              <a:rPr lang="ro-RO" b="0" dirty="0"/>
              <a:t> play” </a:t>
            </a:r>
            <a:r>
              <a:rPr lang="en-US" b="0" dirty="0"/>
              <a:t>, </a:t>
            </a:r>
            <a:r>
              <a:rPr lang="ro-RO" dirty="0"/>
              <a:t>Folosește infrastructura existentă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EB70-24FD-4466-BEE5-2BF4821AEE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2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Tehnologia</a:t>
            </a:r>
            <a:r>
              <a:rPr lang="en-US" dirty="0"/>
              <a:t> pe care </a:t>
            </a:r>
            <a:r>
              <a:rPr lang="en-US" dirty="0" err="1"/>
              <a:t>vrem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o </a:t>
            </a: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studiata</a:t>
            </a:r>
            <a:r>
              <a:rPr lang="en-US" dirty="0"/>
              <a:t> mathematic, </a:t>
            </a:r>
            <a:r>
              <a:rPr lang="en-US" dirty="0" err="1"/>
              <a:t>determinista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testata in </a:t>
            </a:r>
            <a:r>
              <a:rPr lang="en-US" dirty="0" err="1"/>
              <a:t>lumea</a:t>
            </a:r>
            <a:r>
              <a:rPr lang="en-US" dirty="0"/>
              <a:t> </a:t>
            </a:r>
            <a:r>
              <a:rPr lang="en-US" dirty="0" err="1"/>
              <a:t>reala</a:t>
            </a:r>
            <a:r>
              <a:rPr lang="en-US" dirty="0"/>
              <a:t> – are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bune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EB70-24FD-4466-BEE5-2BF4821AEE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91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Noi </a:t>
            </a:r>
            <a:r>
              <a:rPr lang="ro-RO" dirty="0" err="1"/>
              <a:t>planuim</a:t>
            </a:r>
            <a:r>
              <a:rPr lang="ro-RO" dirty="0"/>
              <a:t> sa lansam produsul </a:t>
            </a:r>
            <a:r>
              <a:rPr lang="ro-RO" dirty="0" err="1"/>
              <a:t>intr-o</a:t>
            </a:r>
            <a:r>
              <a:rPr lang="ro-RO" dirty="0"/>
              <a:t> </a:t>
            </a:r>
            <a:r>
              <a:rPr lang="ro-RO" dirty="0" err="1"/>
              <a:t>piata</a:t>
            </a:r>
            <a:r>
              <a:rPr lang="ro-RO" dirty="0"/>
              <a:t> SOM, asta include </a:t>
            </a:r>
            <a:r>
              <a:rPr lang="ro-RO" dirty="0" err="1"/>
              <a:t>orasele</a:t>
            </a:r>
            <a:r>
              <a:rPr lang="ro-RO" dirty="0"/>
              <a:t> de rang 2: </a:t>
            </a:r>
            <a:r>
              <a:rPr lang="ro-RO" dirty="0" err="1"/>
              <a:t>Bistrita</a:t>
            </a:r>
            <a:r>
              <a:rPr lang="ro-RO" dirty="0"/>
              <a:t>, </a:t>
            </a:r>
            <a:r>
              <a:rPr lang="ro-RO" dirty="0" err="1"/>
              <a:t>Botosani</a:t>
            </a:r>
            <a:r>
              <a:rPr lang="ro-RO" dirty="0"/>
              <a:t>, </a:t>
            </a:r>
            <a:r>
              <a:rPr lang="ro-RO" dirty="0" err="1"/>
              <a:t>Floresti</a:t>
            </a:r>
            <a:r>
              <a:rPr lang="ro-RO" dirty="0"/>
              <a:t> – Aici </a:t>
            </a:r>
            <a:r>
              <a:rPr lang="ro-RO" dirty="0" err="1"/>
              <a:t>planuim</a:t>
            </a:r>
            <a:r>
              <a:rPr lang="ro-RO" dirty="0"/>
              <a:t> sa vindem produsul nostru. </a:t>
            </a:r>
            <a:r>
              <a:rPr lang="ro-RO" dirty="0" err="1"/>
              <a:t>Odata</a:t>
            </a:r>
            <a:r>
              <a:rPr lang="ro-RO" dirty="0"/>
              <a:t> ce acesta </a:t>
            </a:r>
            <a:r>
              <a:rPr lang="ro-RO" dirty="0" err="1"/>
              <a:t>iși</a:t>
            </a:r>
            <a:r>
              <a:rPr lang="ro-RO" dirty="0"/>
              <a:t> </a:t>
            </a:r>
            <a:r>
              <a:rPr lang="ro-RO" dirty="0" err="1"/>
              <a:t>demonstreaza</a:t>
            </a:r>
            <a:r>
              <a:rPr lang="ro-RO" dirty="0"/>
              <a:t> </a:t>
            </a:r>
            <a:r>
              <a:rPr lang="ro-RO" dirty="0" err="1"/>
              <a:t>folosinta</a:t>
            </a:r>
            <a:r>
              <a:rPr lang="ro-RO" dirty="0"/>
              <a:t>, putem avansa la </a:t>
            </a:r>
            <a:r>
              <a:rPr lang="ro-RO" dirty="0" err="1"/>
              <a:t>piata</a:t>
            </a:r>
            <a:r>
              <a:rPr lang="ro-RO" dirty="0"/>
              <a:t> </a:t>
            </a:r>
            <a:r>
              <a:rPr lang="ro-RO" dirty="0" err="1"/>
              <a:t>nationala</a:t>
            </a:r>
            <a:r>
              <a:rPr lang="ro-RO" dirty="0"/>
              <a:t>. Un avantaj foarte mare pe care </a:t>
            </a:r>
            <a:r>
              <a:rPr lang="ro-RO" dirty="0" err="1"/>
              <a:t>il</a:t>
            </a:r>
            <a:r>
              <a:rPr lang="ro-RO" dirty="0"/>
              <a:t> avem este faptul ca produsul nostru nu s-ar schimba mai </a:t>
            </a:r>
            <a:r>
              <a:rPr lang="ro-RO" dirty="0" err="1"/>
              <a:t>edloc</a:t>
            </a:r>
            <a:r>
              <a:rPr lang="ro-RO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EB70-24FD-4466-BEE5-2BF4821AEE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68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3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4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5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Sunday, December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Sunday, December 7,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0032-21D8-47E2-2D67-4EB9EE769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Urban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360F9-FA5D-01E1-F42A-274D667CB6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Echipa</a:t>
            </a:r>
            <a:r>
              <a:rPr lang="en-US" dirty="0"/>
              <a:t> “Camera 521”</a:t>
            </a:r>
          </a:p>
          <a:p>
            <a:r>
              <a:rPr lang="en-US" dirty="0" err="1"/>
              <a:t>Polihack</a:t>
            </a:r>
            <a:r>
              <a:rPr lang="en-US" dirty="0"/>
              <a:t> 2025, Embedded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8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4F4D-77ED-52FD-162B-9E24E146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866124"/>
          </a:xfrm>
        </p:spPr>
        <p:txBody>
          <a:bodyPr/>
          <a:lstStyle/>
          <a:p>
            <a:pPr algn="ctr"/>
            <a:r>
              <a:rPr lang="ro-RO" dirty="0"/>
              <a:t>Problema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BC4DF-D7CA-1627-3579-1BC82051A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1278" y="2112265"/>
            <a:ext cx="3481602" cy="395935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err="1">
                <a:latin typeface="Amasis MT Pro Black" panose="02040A04050005020304" pitchFamily="18" charset="0"/>
              </a:rPr>
              <a:t>Ia</a:t>
            </a:r>
            <a:r>
              <a:rPr lang="ro-RO" sz="3200" b="1" dirty="0">
                <a:latin typeface="Amasis MT Pro Black" panose="02040A04050005020304" pitchFamily="18" charset="0"/>
              </a:rPr>
              <a:t>ș</a:t>
            </a:r>
            <a:r>
              <a:rPr lang="en-US" sz="3200" b="1" dirty="0" err="1">
                <a:latin typeface="Amasis MT Pro Black" panose="02040A04050005020304" pitchFamily="18" charset="0"/>
              </a:rPr>
              <a:t>i</a:t>
            </a:r>
            <a:endParaRPr lang="ro-RO" sz="3200" b="1" dirty="0">
              <a:latin typeface="Amasis MT Pro Black" panose="02040A04050005020304" pitchFamily="18" charset="0"/>
            </a:endParaRPr>
          </a:p>
          <a:p>
            <a:pPr marL="0" indent="0">
              <a:buNone/>
            </a:pPr>
            <a:r>
              <a:rPr lang="en-US" dirty="0" err="1"/>
              <a:t>Indicele</a:t>
            </a:r>
            <a:r>
              <a:rPr lang="en-US" dirty="0"/>
              <a:t> de </a:t>
            </a:r>
            <a:r>
              <a:rPr lang="en-US" dirty="0" err="1"/>
              <a:t>Trafic</a:t>
            </a:r>
            <a:r>
              <a:rPr lang="en-US" dirty="0"/>
              <a:t> 2024 </a:t>
            </a:r>
            <a:r>
              <a:rPr lang="en-US" dirty="0" err="1"/>
              <a:t>identifică</a:t>
            </a:r>
            <a:r>
              <a:rPr lang="en-US" dirty="0"/>
              <a:t> Iașiul cu </a:t>
            </a:r>
            <a:r>
              <a:rPr lang="en-US" dirty="0" err="1"/>
              <a:t>niveluri</a:t>
            </a:r>
            <a:r>
              <a:rPr lang="en-US" dirty="0"/>
              <a:t> de </a:t>
            </a:r>
            <a:r>
              <a:rPr lang="en-US" dirty="0" err="1"/>
              <a:t>congestie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depășesc</a:t>
            </a:r>
            <a:r>
              <a:rPr lang="en-US" dirty="0"/>
              <a:t> 9 </a:t>
            </a:r>
            <a:r>
              <a:rPr lang="en-US" dirty="0" err="1"/>
              <a:t>zile</a:t>
            </a:r>
            <a:r>
              <a:rPr lang="en-US" dirty="0"/>
              <a:t> </a:t>
            </a:r>
            <a:r>
              <a:rPr lang="en-US" dirty="0" err="1"/>
              <a:t>pierdute</a:t>
            </a:r>
            <a:r>
              <a:rPr lang="en-US" dirty="0"/>
              <a:t> pe an per </a:t>
            </a:r>
            <a:r>
              <a:rPr lang="en-US" dirty="0" err="1"/>
              <a:t>șofer</a:t>
            </a:r>
            <a:r>
              <a:rPr lang="en-US" dirty="0"/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753120-302F-D948-C5D2-F1C086857CBC}"/>
              </a:ext>
            </a:extLst>
          </p:cNvPr>
          <p:cNvSpPr txBox="1">
            <a:spLocks/>
          </p:cNvSpPr>
          <p:nvPr/>
        </p:nvSpPr>
        <p:spPr>
          <a:xfrm>
            <a:off x="1371600" y="2112265"/>
            <a:ext cx="2708787" cy="43182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err="1">
                <a:latin typeface="Amasis MT Pro Black" panose="02040A04050005020304" pitchFamily="18" charset="0"/>
              </a:rPr>
              <a:t>Bucure</a:t>
            </a:r>
            <a:r>
              <a:rPr lang="ro-RO" sz="3200" b="1" dirty="0">
                <a:latin typeface="Amasis MT Pro Black" panose="02040A04050005020304" pitchFamily="18" charset="0"/>
              </a:rPr>
              <a:t>ș</a:t>
            </a:r>
            <a:r>
              <a:rPr lang="en-US" sz="3200" b="1" dirty="0" err="1">
                <a:latin typeface="Amasis MT Pro Black" panose="02040A04050005020304" pitchFamily="18" charset="0"/>
              </a:rPr>
              <a:t>ti</a:t>
            </a:r>
            <a:endParaRPr lang="en-US" sz="3200" b="1" dirty="0">
              <a:latin typeface="Amasis MT Pro Black" panose="02040A04050005020304" pitchFamily="18" charset="0"/>
            </a:endParaRPr>
          </a:p>
          <a:p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de </a:t>
            </a:r>
            <a:r>
              <a:rPr lang="en-US" dirty="0" err="1"/>
              <a:t>călătorie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10 km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centrul</a:t>
            </a:r>
            <a:r>
              <a:rPr lang="en-US" dirty="0"/>
              <a:t> </a:t>
            </a:r>
            <a:r>
              <a:rPr lang="en-US" dirty="0" err="1"/>
              <a:t>Bucureștiului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30 de minute </a:t>
            </a:r>
            <a:r>
              <a:rPr lang="en-US" dirty="0" err="1"/>
              <a:t>și</a:t>
            </a:r>
            <a:r>
              <a:rPr lang="en-US" dirty="0"/>
              <a:t> 4 </a:t>
            </a:r>
            <a:r>
              <a:rPr lang="en-US" dirty="0" err="1"/>
              <a:t>secunde</a:t>
            </a:r>
            <a:r>
              <a:rPr lang="en-US" dirty="0"/>
              <a:t> -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Londra.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236EB2-C65A-9A9C-65DB-890163920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0161" y="2112265"/>
            <a:ext cx="3711677" cy="404784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Amasis MT Pro Black" panose="02040A04050005020304" pitchFamily="18" charset="0"/>
              </a:rPr>
              <a:t>Cluj</a:t>
            </a:r>
            <a:endParaRPr lang="en-US" b="1" dirty="0">
              <a:latin typeface="Amasis MT Pro Black" panose="02040A04050005020304" pitchFamily="18" charset="0"/>
            </a:endParaRPr>
          </a:p>
          <a:p>
            <a:r>
              <a:rPr lang="en-US" dirty="0"/>
              <a:t>Axa Est-Vest (</a:t>
            </a:r>
            <a:r>
              <a:rPr lang="en-US" dirty="0" err="1"/>
              <a:t>Florești</a:t>
            </a:r>
            <a:r>
              <a:rPr lang="en-US" dirty="0"/>
              <a:t> - </a:t>
            </a:r>
            <a:r>
              <a:rPr lang="en-US" dirty="0" err="1"/>
              <a:t>Mărăști</a:t>
            </a:r>
            <a:r>
              <a:rPr lang="en-US" dirty="0"/>
              <a:t>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notoriu</a:t>
            </a:r>
            <a:r>
              <a:rPr lang="en-US" dirty="0"/>
              <a:t> </a:t>
            </a:r>
            <a:r>
              <a:rPr lang="en-US" dirty="0" err="1"/>
              <a:t>blocată</a:t>
            </a:r>
            <a:r>
              <a:rPr lang="en-US" dirty="0"/>
              <a:t>, cu </a:t>
            </a:r>
            <a:r>
              <a:rPr lang="en-US" dirty="0" err="1"/>
              <a:t>timpi</a:t>
            </a:r>
            <a:r>
              <a:rPr lang="en-US" dirty="0"/>
              <a:t> de </a:t>
            </a:r>
            <a:r>
              <a:rPr lang="en-US" dirty="0" err="1"/>
              <a:t>navetă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depășesc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45 de minute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distanțe</a:t>
            </a:r>
            <a:r>
              <a:rPr lang="en-US" dirty="0"/>
              <a:t> sub 10 km.</a:t>
            </a:r>
          </a:p>
        </p:txBody>
      </p:sp>
    </p:spTree>
    <p:extLst>
      <p:ext uri="{BB962C8B-B14F-4D97-AF65-F5344CB8AC3E}">
        <p14:creationId xmlns:p14="http://schemas.microsoft.com/office/powerpoint/2010/main" val="123626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6992-98F4-06DB-C1BD-FE3513AB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47484"/>
            <a:ext cx="10241280" cy="1032387"/>
          </a:xfrm>
        </p:spPr>
        <p:txBody>
          <a:bodyPr/>
          <a:lstStyle/>
          <a:p>
            <a:pPr algn="ctr"/>
            <a:r>
              <a:rPr lang="ro-RO" dirty="0"/>
              <a:t>Criza traficului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7125-252A-C56B-B63A-07E56784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337187"/>
            <a:ext cx="11877368" cy="5034116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"/>
              </a:spcBef>
              <a:buNone/>
            </a:pPr>
            <a:r>
              <a:rPr lang="ro-RO" sz="8000" b="1" dirty="0"/>
              <a:t>2%-3% 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ro-RO" sz="3600" b="1" dirty="0"/>
              <a:t>	</a:t>
            </a:r>
            <a:r>
              <a:rPr lang="ro-RO" sz="2800" i="1" dirty="0"/>
              <a:t>„taxa pe trafic” (estimare)</a:t>
            </a:r>
            <a:endParaRPr lang="en-US" sz="2800" i="1" dirty="0"/>
          </a:p>
          <a:p>
            <a:pPr marL="0" indent="0">
              <a:spcBef>
                <a:spcPts val="100"/>
              </a:spcBef>
              <a:buNone/>
            </a:pPr>
            <a:endParaRPr lang="en-US" sz="3600" b="1" dirty="0"/>
          </a:p>
          <a:p>
            <a:pPr marL="0" indent="0">
              <a:spcBef>
                <a:spcPts val="100"/>
              </a:spcBef>
              <a:buNone/>
            </a:pPr>
            <a:r>
              <a:rPr lang="ro-RO" sz="6000" b="1" dirty="0"/>
              <a:t>150</a:t>
            </a:r>
            <a:r>
              <a:rPr lang="ro-RO" sz="3200" b="1" dirty="0"/>
              <a:t> de ore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ro-RO" b="1" dirty="0"/>
              <a:t>	</a:t>
            </a:r>
            <a:r>
              <a:rPr lang="ro-RO" i="1" dirty="0"/>
              <a:t> </a:t>
            </a:r>
            <a:r>
              <a:rPr lang="ro-RO" sz="2600" i="1" dirty="0"/>
              <a:t>pierdute per șofer per an</a:t>
            </a:r>
            <a:endParaRPr lang="en-US" sz="2600" i="1" dirty="0"/>
          </a:p>
          <a:p>
            <a:pPr marL="0" indent="0">
              <a:spcBef>
                <a:spcPts val="100"/>
              </a:spcBef>
              <a:buNone/>
            </a:pPr>
            <a:endParaRPr lang="ro-RO" i="1" dirty="0"/>
          </a:p>
          <a:p>
            <a:pPr marL="0" indent="0">
              <a:spcBef>
                <a:spcPts val="100"/>
              </a:spcBef>
              <a:buNone/>
            </a:pPr>
            <a:r>
              <a:rPr lang="en-US" sz="3500" b="1" dirty="0"/>
              <a:t>€500 </a:t>
            </a:r>
            <a:r>
              <a:rPr lang="en-US" sz="3500" b="1" dirty="0" err="1"/>
              <a:t>Milioane</a:t>
            </a:r>
            <a:r>
              <a:rPr lang="en-US" sz="3500" b="1" dirty="0"/>
              <a:t> </a:t>
            </a:r>
            <a:r>
              <a:rPr lang="en-US" sz="3500" b="1" dirty="0" err="1"/>
              <a:t>irosite</a:t>
            </a:r>
            <a:r>
              <a:rPr lang="en-US" sz="3500" b="1" dirty="0"/>
              <a:t> pe </a:t>
            </a:r>
            <a:r>
              <a:rPr lang="en-US" sz="3500" b="1" dirty="0" err="1"/>
              <a:t>infrastructură</a:t>
            </a:r>
            <a:r>
              <a:rPr lang="en-US" sz="3500" b="1" dirty="0"/>
              <a:t> </a:t>
            </a:r>
            <a:r>
              <a:rPr lang="en-US" sz="3500" b="1" dirty="0" err="1"/>
              <a:t>învechită</a:t>
            </a:r>
            <a:r>
              <a:rPr lang="en-US" sz="3500" b="1" dirty="0"/>
              <a:t> </a:t>
            </a:r>
            <a:endParaRPr lang="ro-RO" sz="3500" b="1" dirty="0"/>
          </a:p>
          <a:p>
            <a:pPr marL="0" indent="0">
              <a:spcBef>
                <a:spcPts val="100"/>
              </a:spcBef>
              <a:buNone/>
            </a:pPr>
            <a:r>
              <a:rPr lang="ro-RO" i="1" dirty="0"/>
              <a:t>	</a:t>
            </a:r>
            <a:r>
              <a:rPr lang="en-US" i="1" dirty="0" err="1"/>
              <a:t>Cheltuieli</a:t>
            </a:r>
            <a:r>
              <a:rPr lang="en-US" i="1" dirty="0"/>
              <a:t> de capital </a:t>
            </a:r>
            <a:r>
              <a:rPr lang="en-US" i="1" dirty="0" err="1"/>
              <a:t>ridicate</a:t>
            </a:r>
            <a:r>
              <a:rPr lang="en-US" i="1" dirty="0"/>
              <a:t>, cu </a:t>
            </a:r>
            <a:r>
              <a:rPr lang="ro-RO" i="1" dirty="0"/>
              <a:t>ROI</a:t>
            </a:r>
            <a:r>
              <a:rPr lang="en-US" i="1" dirty="0"/>
              <a:t> </a:t>
            </a:r>
            <a:r>
              <a:rPr lang="en-US" i="1" dirty="0" err="1"/>
              <a:t>scăzut</a:t>
            </a:r>
            <a:endParaRPr lang="ro-RO" b="1" dirty="0"/>
          </a:p>
          <a:p>
            <a:pPr marL="0" indent="0">
              <a:spcBef>
                <a:spcPts val="100"/>
              </a:spcBef>
              <a:buNone/>
            </a:pPr>
            <a:endParaRPr lang="ro-RO" b="1" dirty="0"/>
          </a:p>
          <a:p>
            <a:pPr marL="0" indent="0">
              <a:spcBef>
                <a:spcPts val="100"/>
              </a:spcBef>
              <a:buNone/>
            </a:pP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192230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5B9F-166F-72DA-D54A-DA6A87CDF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5528"/>
            <a:ext cx="12192000" cy="1234440"/>
          </a:xfrm>
        </p:spPr>
        <p:txBody>
          <a:bodyPr>
            <a:normAutofit/>
          </a:bodyPr>
          <a:lstStyle/>
          <a:p>
            <a:pPr algn="ctr"/>
            <a:r>
              <a:rPr lang="ro-RO" dirty="0"/>
              <a:t>Soluția</a:t>
            </a:r>
            <a:br>
              <a:rPr lang="en-US" dirty="0"/>
            </a:br>
            <a:r>
              <a:rPr lang="ro-RO" dirty="0"/>
              <a:t>Urban </a:t>
            </a:r>
            <a:r>
              <a:rPr lang="ro-RO" dirty="0" err="1"/>
              <a:t>flow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09B3DF-0E4A-4440-78EB-908D95916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364" y="2643855"/>
            <a:ext cx="11931636" cy="785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AF2BC6-3143-7125-58A6-D56909796505}"/>
              </a:ext>
            </a:extLst>
          </p:cNvPr>
          <p:cNvSpPr txBox="1"/>
          <p:nvPr/>
        </p:nvSpPr>
        <p:spPr>
          <a:xfrm>
            <a:off x="260364" y="3461443"/>
            <a:ext cx="2131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Colaborarea cu administrațiile municipale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C3273-92E5-9AFD-7309-470F497D26B2}"/>
              </a:ext>
            </a:extLst>
          </p:cNvPr>
          <p:cNvSpPr txBox="1"/>
          <p:nvPr/>
        </p:nvSpPr>
        <p:spPr>
          <a:xfrm>
            <a:off x="3470787" y="3461444"/>
            <a:ext cx="3598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dirty="0"/>
              <a:t>Nu reconstruiți, modernizați</a:t>
            </a:r>
          </a:p>
          <a:p>
            <a:r>
              <a:rPr lang="ro-RO" dirty="0"/>
              <a:t>Modernizarea infrastructurii existente prin sisteme inteligente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EC4FA-7187-16EB-CA60-04A798F5ABBA}"/>
              </a:ext>
            </a:extLst>
          </p:cNvPr>
          <p:cNvSpPr txBox="1"/>
          <p:nvPr/>
        </p:nvSpPr>
        <p:spPr>
          <a:xfrm>
            <a:off x="8147207" y="3429000"/>
            <a:ext cx="243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Reducerea drastică a congestiei în trafic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0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694D-CFE5-65A4-2533-52EAF091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Validare</a:t>
            </a:r>
            <a:r>
              <a:rPr lang="en-US" dirty="0"/>
              <a:t>: </a:t>
            </a:r>
            <a:r>
              <a:rPr lang="en-US" dirty="0" err="1"/>
              <a:t>Algortmul</a:t>
            </a:r>
            <a:r>
              <a:rPr lang="en-US" dirty="0"/>
              <a:t> </a:t>
            </a:r>
            <a:r>
              <a:rPr lang="en-US" dirty="0" err="1"/>
              <a:t>MAXPressure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E87D0-C50A-D21C-F756-F21E94C2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sz="3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1" dirty="0"/>
              <a:t>"We prove that </a:t>
            </a:r>
            <a:r>
              <a:rPr lang="en-US" sz="3200" b="1" dirty="0" err="1"/>
              <a:t>MaxPressure</a:t>
            </a:r>
            <a:r>
              <a:rPr lang="en-US" sz="3200" b="1" dirty="0"/>
              <a:t> stabilizes the network if the demand is within the network capacity... </a:t>
            </a:r>
            <a:r>
              <a:rPr lang="en-US" sz="3200" b="1" dirty="0" err="1"/>
              <a:t>MaxPressure</a:t>
            </a:r>
            <a:r>
              <a:rPr lang="en-US" sz="3200" b="1" dirty="0"/>
              <a:t> is a distributed, feedback controller."</a:t>
            </a:r>
            <a:r>
              <a:rPr lang="en-US" sz="3200" dirty="0"/>
              <a:t> — </a:t>
            </a:r>
            <a:r>
              <a:rPr lang="en-US" sz="3200" i="1" dirty="0"/>
              <a:t>Pravin Varaiya, Dept. of Electrical Engineering, UC Berkeley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27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F7F3-808D-3060-BF23-46169A47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Validare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90E57-BF19-65A0-D68A-AAF32BC35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Sistemul nostru:</a:t>
            </a:r>
          </a:p>
          <a:p>
            <a:pPr marL="0" indent="0">
              <a:buNone/>
            </a:pPr>
            <a:r>
              <a:rPr lang="ro-RO" dirty="0"/>
              <a:t>Reduce timpul petrecut în trafic cu 10%-50%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Reduce stopurile cu 30%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Reduce emisiile cu 20%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4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7CFB-C27E-D4DB-4636-74CA2DBD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962"/>
            <a:ext cx="12192000" cy="865238"/>
          </a:xfrm>
        </p:spPr>
        <p:txBody>
          <a:bodyPr/>
          <a:lstStyle/>
          <a:p>
            <a:pPr algn="ctr"/>
            <a:r>
              <a:rPr lang="en-US" dirty="0"/>
              <a:t>Market size: </a:t>
            </a:r>
            <a:r>
              <a:rPr lang="en-US" dirty="0" err="1"/>
              <a:t>Poten</a:t>
            </a:r>
            <a:r>
              <a:rPr lang="ro-RO" dirty="0" err="1"/>
              <a:t>țial</a:t>
            </a:r>
            <a:r>
              <a:rPr lang="ro-RO" dirty="0"/>
              <a:t> uriaș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5992DA-040A-ABAB-BB78-6915D703B261}"/>
              </a:ext>
            </a:extLst>
          </p:cNvPr>
          <p:cNvSpPr/>
          <p:nvPr/>
        </p:nvSpPr>
        <p:spPr>
          <a:xfrm>
            <a:off x="5355995" y="2169062"/>
            <a:ext cx="2291755" cy="220055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9D7121-FC5E-F60A-41D8-C6E5AACE751A}"/>
              </a:ext>
            </a:extLst>
          </p:cNvPr>
          <p:cNvSpPr/>
          <p:nvPr/>
        </p:nvSpPr>
        <p:spPr>
          <a:xfrm>
            <a:off x="9043702" y="2412830"/>
            <a:ext cx="1752346" cy="171302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8A3D60-0B2A-0444-D32C-8A75E4340A77}"/>
              </a:ext>
            </a:extLst>
          </p:cNvPr>
          <p:cNvSpPr/>
          <p:nvPr/>
        </p:nvSpPr>
        <p:spPr>
          <a:xfrm>
            <a:off x="1395952" y="2081565"/>
            <a:ext cx="2564091" cy="237555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TAM:</a:t>
            </a:r>
          </a:p>
        </p:txBody>
      </p:sp>
    </p:spTree>
    <p:extLst>
      <p:ext uri="{BB962C8B-B14F-4D97-AF65-F5344CB8AC3E}">
        <p14:creationId xmlns:p14="http://schemas.microsoft.com/office/powerpoint/2010/main" val="238629666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 rise</Template>
  <TotalTime>0</TotalTime>
  <Words>383</Words>
  <Application>Microsoft Office PowerPoint</Application>
  <PresentationFormat>Widescreen</PresentationFormat>
  <Paragraphs>48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Amasis MT Pro Black</vt:lpstr>
      <vt:lpstr>Aptos</vt:lpstr>
      <vt:lpstr>Arial</vt:lpstr>
      <vt:lpstr>Avenir Next LT Pro</vt:lpstr>
      <vt:lpstr>Avenir Next LT Pro Light</vt:lpstr>
      <vt:lpstr>GradientRiseVTI</vt:lpstr>
      <vt:lpstr>Urban flow</vt:lpstr>
      <vt:lpstr>Problema</vt:lpstr>
      <vt:lpstr>Criza traficului</vt:lpstr>
      <vt:lpstr>Soluția Urban flow</vt:lpstr>
      <vt:lpstr>Validare: Algortmul MAXPressure</vt:lpstr>
      <vt:lpstr>Validare</vt:lpstr>
      <vt:lpstr>Market size: Potențial uriaș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Tuchila</dc:creator>
  <cp:lastModifiedBy>Adi Tuchila</cp:lastModifiedBy>
  <cp:revision>6</cp:revision>
  <dcterms:created xsi:type="dcterms:W3CDTF">2025-12-07T10:02:32Z</dcterms:created>
  <dcterms:modified xsi:type="dcterms:W3CDTF">2025-12-07T13:07:59Z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2025-12-07T10:02:39Z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5fa194e9-81c4-4814-8df9-d32b45a79faf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